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</p:sldIdLst>
  <p:sldSz cx="12192000" cy="6858000"/>
  <p:notesSz cx="7010400" cy="9296400"/>
  <p:embeddedFontLst>
    <p:embeddedFont>
      <p:font typeface="Montserrat SemiBold" panose="00000700000000000000" pitchFamily="2" charset="0"/>
      <p:bold r:id="rId4"/>
      <p:boldItalic r:id="rId5"/>
    </p:embeddedFont>
    <p:embeddedFont>
      <p:font typeface="Noto Sans Medium" panose="020B0502040504020204" pitchFamily="34" charset="0"/>
      <p:regular r:id="rId6"/>
      <p:italic r:id="rId7"/>
    </p:embeddedFont>
    <p:embeddedFont>
      <p:font typeface="Noto Sans" panose="020B0502040504020204" pitchFamily="34" charset="0"/>
      <p:regular r:id="rId8"/>
      <p:bold r:id="rId9"/>
      <p:italic r:id="rId10"/>
      <p:boldItalic r:id="rId11"/>
    </p:embeddedFont>
    <p:embeddedFont>
      <p:font typeface="Noto Sans SemiBold" panose="020B0502040504020204" pitchFamily="34" charset="0"/>
      <p:bold r:id="rId12"/>
      <p:boldItalic r:id="rId13"/>
    </p:embeddedFont>
    <p:embeddedFont>
      <p:font typeface="Patria" pitchFamily="50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s-MX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6B2C"/>
    <a:srgbClr val="155B4E"/>
    <a:srgbClr val="1C3C1E"/>
    <a:srgbClr val="6E152E"/>
    <a:srgbClr val="9C2148"/>
    <a:srgbClr val="D9DFF2"/>
    <a:srgbClr val="A42145"/>
    <a:srgbClr val="235B4E"/>
    <a:srgbClr val="00B0F0"/>
    <a:srgbClr val="152D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61" autoAdjust="0"/>
    <p:restoredTop sz="96586" autoAdjust="0"/>
  </p:normalViewPr>
  <p:slideViewPr>
    <p:cSldViewPr snapToGrid="0" snapToObjects="1">
      <p:cViewPr varScale="1">
        <p:scale>
          <a:sx n="109" d="100"/>
          <a:sy n="109" d="100"/>
        </p:scale>
        <p:origin x="11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792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font" Target="fonts/font15.fntdata"/><Relationship Id="rId19" Type="http://schemas.openxmlformats.org/officeDocument/2006/relationships/font" Target="fonts/font16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7927D54E-8C2E-5140-8C91-3FEA4A3A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F2D13BB7-3677-894F-9A14-A006787831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95092CE-056A-8E4F-AA38-7AF6D4E38A72}" type="datetimeFigureOut">
              <a:rPr lang="es-MX" smtClean="0"/>
              <a:t>01/07/2026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21DC28EA-8CAC-E143-B39A-5889FAF729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68C73B85-DAD0-4144-A9F5-B99516FD3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83F5F3-A0C0-064E-A21B-3D52FC9E2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5397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0E016B-CAC3-6B4C-90C0-D7AA6A747DA3}" type="datetimeFigureOut">
              <a:rPr lang="es-MX" smtClean="0"/>
              <a:t>01/07/2026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ABF3107-FFE8-3645-B89F-777090C37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890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sv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sv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6.svg"/><Relationship Id="rId5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6.svg"/><Relationship Id="rId5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3.svg"/><Relationship Id="rId7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xmlns="" id="{FD7975D1-8E3E-676E-939C-B03AD0234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E7D39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2" name="Grupo 1"/>
          <p:cNvGrpSpPr/>
          <p:nvPr userDrawn="1"/>
        </p:nvGrpSpPr>
        <p:grpSpPr>
          <a:xfrm>
            <a:off x="4427443" y="157529"/>
            <a:ext cx="7401336" cy="582416"/>
            <a:chOff x="4161222" y="277882"/>
            <a:chExt cx="7401336" cy="582416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14" name="Grupo 13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18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19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20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5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641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/>
          <p:cNvGrpSpPr/>
          <p:nvPr userDrawn="1"/>
        </p:nvGrpSpPr>
        <p:grpSpPr>
          <a:xfrm>
            <a:off x="4427444" y="156813"/>
            <a:ext cx="7401336" cy="582416"/>
            <a:chOff x="4161222" y="277882"/>
            <a:chExt cx="7401336" cy="582416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6" name="Grupo 25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8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29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30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7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xmlns="" id="{FD7975D1-8E3E-676E-939C-B03AD0234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5608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E7D39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287764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rgbClr val="6E152E"/>
                </a:solidFill>
                <a:latin typeface="Patria" pitchFamily="50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155B4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30" name="Grupo 29"/>
          <p:cNvGrpSpPr/>
          <p:nvPr userDrawn="1"/>
        </p:nvGrpSpPr>
        <p:grpSpPr>
          <a:xfrm>
            <a:off x="4581450" y="172626"/>
            <a:ext cx="7471430" cy="625409"/>
            <a:chOff x="4728521" y="172626"/>
            <a:chExt cx="7471430" cy="625409"/>
          </a:xfrm>
        </p:grpSpPr>
        <p:grpSp>
          <p:nvGrpSpPr>
            <p:cNvPr id="31" name="Grupo 30">
              <a:extLst>
                <a:ext uri="{FF2B5EF4-FFF2-40B4-BE49-F238E27FC236}">
                  <a16:creationId xmlns="" xmlns:a16="http://schemas.microsoft.com/office/drawing/2014/main" id="{D98B3C4E-0B52-4EFD-1A70-2424FDE5E0D5}"/>
                </a:ext>
              </a:extLst>
            </p:cNvPr>
            <p:cNvGrpSpPr/>
            <p:nvPr userDrawn="1"/>
          </p:nvGrpSpPr>
          <p:grpSpPr>
            <a:xfrm>
              <a:off x="4728521" y="172626"/>
              <a:ext cx="7471430" cy="625409"/>
              <a:chOff x="2208318" y="448874"/>
              <a:chExt cx="9805630" cy="853149"/>
            </a:xfrm>
          </p:grpSpPr>
          <p:pic>
            <p:nvPicPr>
              <p:cNvPr id="36" name="Picture 2">
                <a:extLst>
                  <a:ext uri="{FF2B5EF4-FFF2-40B4-BE49-F238E27FC236}">
                    <a16:creationId xmlns="" xmlns:a16="http://schemas.microsoft.com/office/drawing/2014/main" id="{1764FD60-FAD6-E286-A200-326ABF25F438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318" y="448874"/>
                <a:ext cx="2159847" cy="853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>
                <a:extLst>
                  <a:ext uri="{FF2B5EF4-FFF2-40B4-BE49-F238E27FC236}">
                    <a16:creationId xmlns="" xmlns:a16="http://schemas.microsoft.com/office/drawing/2014/main" id="{234759D2-3CA3-6886-0048-C10FAC134BB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21" b="-4382"/>
              <a:stretch/>
            </p:blipFill>
            <p:spPr bwMode="auto">
              <a:xfrm>
                <a:off x="4812761" y="653084"/>
                <a:ext cx="2014283" cy="5372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" name="CuadroTexto 37">
                <a:extLst>
                  <a:ext uri="{FF2B5EF4-FFF2-40B4-BE49-F238E27FC236}">
                    <a16:creationId xmlns="" xmlns:a16="http://schemas.microsoft.com/office/drawing/2014/main" id="{469AA4AE-442D-9254-7A72-B549A4139BB6}"/>
                  </a:ext>
                </a:extLst>
              </p:cNvPr>
              <p:cNvSpPr txBox="1"/>
              <p:nvPr userDrawn="1"/>
            </p:nvSpPr>
            <p:spPr>
              <a:xfrm>
                <a:off x="9006590" y="560558"/>
                <a:ext cx="3007358" cy="629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="" xmlns:a16="http://schemas.microsoft.com/office/drawing/2014/main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8531504" y="231063"/>
              <a:ext cx="1657080" cy="537185"/>
            </a:xfrm>
            <a:prstGeom prst="rect">
              <a:avLst/>
            </a:prstGeom>
          </p:spPr>
        </p:pic>
        <p:pic>
          <p:nvPicPr>
            <p:cNvPr id="33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8421126" y="213817"/>
              <a:ext cx="169333" cy="516316"/>
            </a:xfrm>
            <a:prstGeom prst="rect">
              <a:avLst/>
            </a:prstGeom>
          </p:spPr>
        </p:pic>
        <p:pic>
          <p:nvPicPr>
            <p:cNvPr id="34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6466840" y="227172"/>
              <a:ext cx="169333" cy="516316"/>
            </a:xfrm>
            <a:prstGeom prst="rect">
              <a:avLst/>
            </a:prstGeom>
          </p:spPr>
        </p:pic>
        <p:pic>
          <p:nvPicPr>
            <p:cNvPr id="35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10143104" y="238204"/>
              <a:ext cx="169333" cy="516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65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4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13" name="Grupo 12"/>
          <p:cNvGrpSpPr/>
          <p:nvPr userDrawn="1"/>
        </p:nvGrpSpPr>
        <p:grpSpPr>
          <a:xfrm>
            <a:off x="2703506" y="151752"/>
            <a:ext cx="7401336" cy="582416"/>
            <a:chOff x="4161222" y="277882"/>
            <a:chExt cx="7401336" cy="58241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2" name="Grupo 21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4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25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26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3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532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grpSp>
        <p:nvGrpSpPr>
          <p:cNvPr id="25" name="Grupo 24"/>
          <p:cNvGrpSpPr/>
          <p:nvPr userDrawn="1"/>
        </p:nvGrpSpPr>
        <p:grpSpPr>
          <a:xfrm>
            <a:off x="2703506" y="151752"/>
            <a:ext cx="7401336" cy="582416"/>
            <a:chOff x="4161222" y="277882"/>
            <a:chExt cx="7401336" cy="582416"/>
          </a:xfrm>
        </p:grpSpPr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7" name="Grupo 26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9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30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31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8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4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182359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1466" y="1955870"/>
            <a:ext cx="9669067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rgbClr val="6E152E"/>
                </a:solidFill>
                <a:latin typeface="Patria" pitchFamily="50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155B4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13" name="Grupo 12"/>
          <p:cNvGrpSpPr/>
          <p:nvPr userDrawn="1"/>
        </p:nvGrpSpPr>
        <p:grpSpPr>
          <a:xfrm>
            <a:off x="2360284" y="37608"/>
            <a:ext cx="7471430" cy="625409"/>
            <a:chOff x="4728521" y="172626"/>
            <a:chExt cx="7471430" cy="625409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xmlns="" id="{D98B3C4E-0B52-4EFD-1A70-2424FDE5E0D5}"/>
                </a:ext>
              </a:extLst>
            </p:cNvPr>
            <p:cNvGrpSpPr/>
            <p:nvPr userDrawn="1"/>
          </p:nvGrpSpPr>
          <p:grpSpPr>
            <a:xfrm>
              <a:off x="4728521" y="172626"/>
              <a:ext cx="7471430" cy="625409"/>
              <a:chOff x="2208318" y="448874"/>
              <a:chExt cx="9805630" cy="853149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xmlns="" id="{1764FD60-FAD6-E286-A200-326ABF25F438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318" y="448874"/>
                <a:ext cx="2159847" cy="853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4">
                <a:extLst>
                  <a:ext uri="{FF2B5EF4-FFF2-40B4-BE49-F238E27FC236}">
                    <a16:creationId xmlns:a16="http://schemas.microsoft.com/office/drawing/2014/main" xmlns="" id="{234759D2-3CA3-6886-0048-C10FAC134BB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7276" y="672142"/>
                <a:ext cx="2180839" cy="445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xmlns="" id="{469AA4AE-442D-9254-7A72-B549A4139BB6}"/>
                  </a:ext>
                </a:extLst>
              </p:cNvPr>
              <p:cNvSpPr txBox="1"/>
              <p:nvPr userDrawn="1"/>
            </p:nvSpPr>
            <p:spPr>
              <a:xfrm>
                <a:off x="9006590" y="560558"/>
                <a:ext cx="3007358" cy="629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8531504" y="231063"/>
              <a:ext cx="1657080" cy="537185"/>
            </a:xfrm>
            <a:prstGeom prst="rect">
              <a:avLst/>
            </a:prstGeom>
          </p:spPr>
        </p:pic>
        <p:pic>
          <p:nvPicPr>
            <p:cNvPr id="16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8421126" y="213817"/>
              <a:ext cx="169333" cy="516316"/>
            </a:xfrm>
            <a:prstGeom prst="rect">
              <a:avLst/>
            </a:prstGeom>
          </p:spPr>
        </p:pic>
        <p:pic>
          <p:nvPicPr>
            <p:cNvPr id="17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6466840" y="227172"/>
              <a:ext cx="169333" cy="516316"/>
            </a:xfrm>
            <a:prstGeom prst="rect">
              <a:avLst/>
            </a:prstGeom>
          </p:spPr>
        </p:pic>
        <p:pic>
          <p:nvPicPr>
            <p:cNvPr id="18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10143104" y="238204"/>
              <a:ext cx="169333" cy="516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15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Diapositiva de tex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989CE3FC-652B-75A0-7C01-A07C26998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349171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40 </a:t>
            </a:r>
            <a:r>
              <a:rPr lang="es-ES" dirty="0" err="1"/>
              <a:t>pts</a:t>
            </a:r>
            <a:endParaRPr lang="es-MX" dirty="0"/>
          </a:p>
        </p:txBody>
      </p:sp>
      <p:grpSp>
        <p:nvGrpSpPr>
          <p:cNvPr id="10" name="Grupo 9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15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14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897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2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fecha 3">
            <a:extLst>
              <a:ext uri="{FF2B5EF4-FFF2-40B4-BE49-F238E27FC236}">
                <a16:creationId xmlns:a16="http://schemas.microsoft.com/office/drawing/2014/main" xmlns="" id="{406B404F-E77F-8733-93AF-FA175D7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01/07/2026</a:t>
            </a:fld>
            <a:endParaRPr lang="es-MX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69EB8667-10C4-492C-B408-C1C193C7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xmlns="" id="{2A69FD4B-4B1B-05A0-91F6-1CD6A4DC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xmlns="" id="{FFE5E6E7-68E4-D97D-00E8-E6CD0CD7C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1135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464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Título y objet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xmlns="" id="{98799C87-5C83-10FC-D07B-4C5E9BF51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9494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536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Título y objet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3ECA7C1E-9036-8A05-C2CE-BF4F3ED10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349171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844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Diapositiva de tex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2A5BE417-A1AA-C27A-1625-26B6234DC9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9494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024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.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fecha 3">
            <a:extLst>
              <a:ext uri="{FF2B5EF4-FFF2-40B4-BE49-F238E27FC236}">
                <a16:creationId xmlns:a16="http://schemas.microsoft.com/office/drawing/2014/main" xmlns="" id="{33049571-67D9-7C4A-95BE-A7944144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01/07/2026</a:t>
            </a:fld>
            <a:endParaRPr lang="es-MX" dirty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xmlns="" id="{4666AA57-9D0D-3640-9528-8B3DEDC6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xmlns="" id="{BFB13A88-D95D-D640-A28D-F449DDA4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4C660459-0224-1559-3746-BE3FFCF27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9494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086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28668712-BADA-D222-E0E1-9D1819CBE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9494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0577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6D14262A-6E69-6325-287E-2514CF5BE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9494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2" name="Grupo 1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9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7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0021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646" y="2660932"/>
            <a:ext cx="7509213" cy="718467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90"/>
          <a:stretch/>
        </p:blipFill>
        <p:spPr bwMode="auto">
          <a:xfrm>
            <a:off x="9144468" y="130212"/>
            <a:ext cx="617599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10">
            <a:extLst>
              <a:ext uri="{FF2B5EF4-FFF2-40B4-BE49-F238E27FC236}">
                <a16:creationId xmlns="" xmlns:a16="http://schemas.microsoft.com/office/drawing/2014/main" id="{6B290337-D774-812F-D5D0-5F9171A36F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56663"/>
          <a:stretch/>
        </p:blipFill>
        <p:spPr>
          <a:xfrm>
            <a:off x="9666946" y="-130512"/>
            <a:ext cx="2335487" cy="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9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646" y="2660932"/>
            <a:ext cx="7509213" cy="718467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90"/>
          <a:stretch/>
        </p:blipFill>
        <p:spPr bwMode="auto">
          <a:xfrm>
            <a:off x="9144468" y="130212"/>
            <a:ext cx="617599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10">
            <a:extLst>
              <a:ext uri="{FF2B5EF4-FFF2-40B4-BE49-F238E27FC236}">
                <a16:creationId xmlns="" xmlns:a16="http://schemas.microsoft.com/office/drawing/2014/main" id="{6B290337-D774-812F-D5D0-5F9171A36F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56663"/>
          <a:stretch/>
        </p:blipFill>
        <p:spPr>
          <a:xfrm>
            <a:off x="9666946" y="-130512"/>
            <a:ext cx="2335487" cy="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97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>
            <a:extLst>
              <a:ext uri="{FF2B5EF4-FFF2-40B4-BE49-F238E27FC236}">
                <a16:creationId xmlns:a16="http://schemas.microsoft.com/office/drawing/2014/main" xmlns="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468" y="130212"/>
            <a:ext cx="2857965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4048" y="1918298"/>
            <a:ext cx="8813509" cy="718467"/>
          </a:xfrm>
          <a:prstGeom prst="rect">
            <a:avLst/>
          </a:prstGeom>
          <a:noFill/>
        </p:spPr>
        <p:txBody>
          <a:bodyPr/>
          <a:lstStyle>
            <a:lvl1pPr algn="l">
              <a:defRPr sz="4800" b="1" i="0">
                <a:solidFill>
                  <a:srgbClr val="6E152E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2787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.2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fecha 3">
            <a:extLst>
              <a:ext uri="{FF2B5EF4-FFF2-40B4-BE49-F238E27FC236}">
                <a16:creationId xmlns:a16="http://schemas.microsoft.com/office/drawing/2014/main" xmlns="" id="{406B404F-E77F-8733-93AF-FA175D7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01/07/2026</a:t>
            </a:fld>
            <a:endParaRPr lang="es-MX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69EB8667-10C4-492C-B408-C1C193C7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xmlns="" id="{2A69FD4B-4B1B-05A0-91F6-1CD6A4DC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xmlns="" id="{FFE5E6E7-68E4-D97D-00E8-E6CD0CD7C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211352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744" y="0"/>
            <a:ext cx="260427" cy="131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93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1A6CB96C-1C06-3B44-8615-D726F4477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8DF0E-90BF-EC4E-8934-156187A1162F}" type="datetimeFigureOut">
              <a:rPr lang="es-MX" smtClean="0"/>
              <a:t>01/07/2026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13D1A4B-ADA7-7043-82FA-F7032EB17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802CF53-648D-B74F-A473-B4CC8BB23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739B-ACC7-1A4E-906B-A9546BA1AB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847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0" r:id="rId2"/>
    <p:sldLayoutId id="2147483652" r:id="rId3"/>
    <p:sldLayoutId id="2147483676" r:id="rId4"/>
    <p:sldLayoutId id="2147483677" r:id="rId5"/>
    <p:sldLayoutId id="2147483678" r:id="rId6"/>
    <p:sldLayoutId id="2147483664" r:id="rId7"/>
    <p:sldLayoutId id="2147483650" r:id="rId8"/>
    <p:sldLayoutId id="2147483666" r:id="rId9"/>
    <p:sldLayoutId id="2147483667" r:id="rId10"/>
    <p:sldLayoutId id="2147483668" r:id="rId11"/>
    <p:sldLayoutId id="2147483663" r:id="rId12"/>
    <p:sldLayoutId id="2147483674" r:id="rId13"/>
    <p:sldLayoutId id="2147483653" r:id="rId14"/>
    <p:sldLayoutId id="2147483656" r:id="rId15"/>
    <p:sldLayoutId id="2147483673" r:id="rId16"/>
    <p:sldLayoutId id="2147483675" r:id="rId17"/>
    <p:sldLayoutId id="2147483679" r:id="rId18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Producción para el Bienestar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Proceso de actualización - 2026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126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Noto Sans"/>
              </a:rPr>
              <a:t>31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Nacional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Meta de Personas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1,473,858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Personas actualizadas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15,610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1.1%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Personas pendientes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1,458,248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98.9%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737360"/>
            <a:ext cx="11887200" cy="50583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Nacional - OREF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83080"/>
          <a:ext cx="5486400" cy="33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1219200"/>
                <a:gridCol w="1219200"/>
              </a:tblGrid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Nayarit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5,393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259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4.80%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Tlaxcala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2,049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96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4.69%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Sonora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4,744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173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3.65%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Veracruz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123,526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3,816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3.09%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Querétaro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2,074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49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2.36%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Baja California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98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2.04%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Región Lagunera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3,548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71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2.00%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Coahuila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8,614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165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1.92%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Tabasco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19,937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318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1.60%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México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149,156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2,218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1.49%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Colima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2,289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33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1.44%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Puebla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19,149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251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1.31%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Durango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3,771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47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1.25%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6,666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83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1.25%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Guerrero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145,402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1,775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1.22%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Zacatecas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5,744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67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1.17%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Chihuahua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42,741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476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1.11%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486400" cy="2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1219200"/>
                <a:gridCol w="1219200"/>
              </a:tblGrid>
              <a:tr h="234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OREF</a:t>
                      </a:r>
                    </a:p>
                  </a:txBody>
                  <a:tcPr anchor="ctr" marL="7200" marR="7200">
                    <a:solidFill>
                      <a:srgbClr val="10312B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Meta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(Personas)</a:t>
                      </a:r>
                    </a:p>
                  </a:txBody>
                  <a:tcPr anchor="ctr" marL="7200" marR="7200">
                    <a:solidFill>
                      <a:srgbClr val="691C32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Avance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(Personas)</a:t>
                      </a:r>
                    </a:p>
                  </a:txBody>
                  <a:tcPr anchor="ctr" marL="7200" marR="7200">
                    <a:solidFill>
                      <a:srgbClr val="235B4E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Avance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(%)</a:t>
                      </a:r>
                    </a:p>
                  </a:txBody>
                  <a:tcPr anchor="ctr" marL="7200" marR="7200">
                    <a:solidFill>
                      <a:srgbClr val="235B4E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783080"/>
          <a:ext cx="5486400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1219200"/>
                <a:gridCol w="1219200"/>
              </a:tblGrid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Oaxaca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212,552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1,973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0.93%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Chiapas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294,942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2,647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0.90%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Michoacán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69,953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495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0.71%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Jalisco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44,819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299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0.67%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Guanajuato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42,530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277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0.65%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Baja California Sur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211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0.47%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San Luis Potosí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46,057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8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0.02%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Quintana Roo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20,775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0.01%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Hidalgo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72,555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6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0.01%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Campeche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20,873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Tamaulipas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21,681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Sinaloa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33,830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Morelos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2,346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CDMX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877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Nuevo León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10,901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solidFill>
                      <a:srgbClr val="F8F4ED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Yucatán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34,055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0.00%</a:t>
                      </a:r>
                    </a:p>
                  </a:txBody>
                  <a:tcPr anchor="ctr" marL="7200" marR="7200">
                    <a:noFill/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188720"/>
          <a:ext cx="5486400" cy="2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19200"/>
                <a:gridCol w="1219200"/>
                <a:gridCol w="1219200"/>
              </a:tblGrid>
              <a:tr h="234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OREF</a:t>
                      </a:r>
                    </a:p>
                  </a:txBody>
                  <a:tcPr anchor="ctr" marL="7200" marR="7200">
                    <a:solidFill>
                      <a:srgbClr val="10312B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Meta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(Personas)</a:t>
                      </a:r>
                    </a:p>
                  </a:txBody>
                  <a:tcPr anchor="ctr" marL="7200" marR="7200">
                    <a:solidFill>
                      <a:srgbClr val="691C32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Avance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(Personas)</a:t>
                      </a:r>
                    </a:p>
                  </a:txBody>
                  <a:tcPr anchor="ctr" marL="7200" marR="7200">
                    <a:solidFill>
                      <a:srgbClr val="235B4E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Avance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(%)</a:t>
                      </a:r>
                    </a:p>
                  </a:txBody>
                  <a:tcPr anchor="ctr" marL="7200" marR="7200">
                    <a:solidFill>
                      <a:srgbClr val="235B4E"/>
                    </a:solidFill>
                    <a:lnL w="12700">
                      <a:solidFill>
                        <a:srgbClr val="C29E5C"/>
                      </a:solidFill>
                    </a:lnL>
                    <a:lnR w="12700">
                      <a:solidFill>
                        <a:srgbClr val="C29E5C"/>
                      </a:solidFill>
                    </a:lnR>
                    <a:lnT w="12700">
                      <a:solidFill>
                        <a:srgbClr val="C29E5C"/>
                      </a:solidFill>
                    </a:lnT>
                    <a:lnB w="12700">
                      <a:solidFill>
                        <a:srgbClr val="C29E5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35B4E"/>
                </a:solidFill>
                <a:latin typeface="Noto Sans SemiBold"/>
              </a:rPr>
              <a:t>15,610 personas actualizadas
</a:t>
            </a:r>
            <a:r>
              <a:rPr sz="4000" b="1">
                <a:solidFill>
                  <a:srgbClr val="235B4E"/>
                </a:solidFill>
                <a:latin typeface="Noto Sans SemiBold"/>
              </a:rPr>
              <a:t>con los siguientes indicadores: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572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91C32"/>
                </a:solidFill>
                <a:latin typeface="Noto Sans"/>
              </a:rPr>
              <a:t>25 OREF: 14,841 (95.1%)
</a:t>
            </a:r>
            <a:r>
              <a:rPr sz="2400" b="1">
                <a:solidFill>
                  <a:srgbClr val="691C32"/>
                </a:solidFill>
                <a:latin typeface="Noto Sans"/>
              </a:rPr>
              <a:t>8 OREF: 769 (4.9%)
</a:t>
            </a:r>
            <a:r>
              <a:rPr sz="2400" b="1">
                <a:solidFill>
                  <a:srgbClr val="235B4E"/>
                </a:solidFill>
                <a:latin typeface="Noto Sans"/>
              </a:rPr>
              <a:t>Conadesuca: 402 (2.6%)
</a:t>
            </a:r>
            <a:r>
              <a:rPr sz="2400" b="1">
                <a:solidFill>
                  <a:srgbClr val="235B4E"/>
                </a:solidFill>
                <a:latin typeface="Noto Sans"/>
              </a:rPr>
              <a:t>Reposición de tarjetas: 24 (0.2%)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645920"/>
            <a:ext cx="45720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Ciclo agrícola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13,599</a:t>
            </a:r>
            <a:r>
              <a:rPr b="1" sz="2000">
                <a:solidFill>
                  <a:srgbClr val="10312B"/>
                </a:solidFill>
                <a:latin typeface="Noto Sans"/>
              </a:rPr>
              <a:t> (87.1%) </a:t>
            </a:r>
            <a:r>
              <a:rPr sz="2000">
                <a:solidFill>
                  <a:srgbClr val="235B4E"/>
                </a:solidFill>
                <a:latin typeface="Noto Sans"/>
              </a:rPr>
              <a:t>PV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1,436</a:t>
            </a:r>
            <a:r>
              <a:rPr b="1" sz="2000">
                <a:solidFill>
                  <a:srgbClr val="10312B"/>
                </a:solidFill>
                <a:latin typeface="Noto Sans"/>
              </a:rPr>
              <a:t> (9.2%) </a:t>
            </a:r>
            <a:r>
              <a:rPr sz="2000">
                <a:solidFill>
                  <a:srgbClr val="235B4E"/>
                </a:solidFill>
                <a:latin typeface="Noto Sans"/>
              </a:rPr>
              <a:t>PE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575</a:t>
            </a:r>
            <a:r>
              <a:rPr b="1" sz="2000">
                <a:solidFill>
                  <a:srgbClr val="10312B"/>
                </a:solidFill>
                <a:latin typeface="Noto Sans"/>
              </a:rPr>
              <a:t> (3.7%) </a:t>
            </a:r>
            <a:r>
              <a:rPr sz="2000">
                <a:solidFill>
                  <a:srgbClr val="235B4E"/>
                </a:solidFill>
                <a:latin typeface="Noto Sans"/>
              </a:rPr>
              <a:t>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645920"/>
            <a:ext cx="45720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Régimen Hídrico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14,093</a:t>
            </a:r>
            <a:r>
              <a:rPr b="1" sz="2000">
                <a:solidFill>
                  <a:srgbClr val="10312B"/>
                </a:solidFill>
                <a:latin typeface="Noto Sans"/>
              </a:rPr>
              <a:t> (90.3%) </a:t>
            </a:r>
            <a:r>
              <a:rPr sz="2000">
                <a:solidFill>
                  <a:srgbClr val="235B4E"/>
                </a:solidFill>
                <a:latin typeface="Noto Sans"/>
              </a:rPr>
              <a:t>TEMPORAL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939</a:t>
            </a:r>
            <a:r>
              <a:rPr b="1" sz="2000">
                <a:solidFill>
                  <a:srgbClr val="10312B"/>
                </a:solidFill>
                <a:latin typeface="Noto Sans"/>
              </a:rPr>
              <a:t> (6.0%) </a:t>
            </a:r>
            <a:r>
              <a:rPr sz="2000">
                <a:solidFill>
                  <a:srgbClr val="235B4E"/>
                </a:solidFill>
                <a:latin typeface="Noto Sans"/>
              </a:rPr>
              <a:t>RIEGO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578</a:t>
            </a:r>
            <a:r>
              <a:rPr b="1" sz="2000">
                <a:solidFill>
                  <a:srgbClr val="10312B"/>
                </a:solidFill>
                <a:latin typeface="Noto Sans"/>
              </a:rPr>
              <a:t> (3.7%) </a:t>
            </a:r>
            <a:r>
              <a:rPr sz="2000">
                <a:solidFill>
                  <a:srgbClr val="235B4E"/>
                </a:solidFill>
                <a:latin typeface="Noto Sans"/>
              </a:rPr>
              <a:t>NO APLICA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645920"/>
            <a:ext cx="45720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Estrato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13,144</a:t>
            </a:r>
            <a:r>
              <a:rPr b="1" sz="2000">
                <a:solidFill>
                  <a:srgbClr val="10312B"/>
                </a:solidFill>
                <a:latin typeface="Noto Sans"/>
              </a:rPr>
              <a:t> (84.2%) </a:t>
            </a:r>
            <a:r>
              <a:rPr sz="2000">
                <a:solidFill>
                  <a:srgbClr val="235B4E"/>
                </a:solidFill>
                <a:latin typeface="Noto Sans"/>
              </a:rPr>
              <a:t>Pequeña Escala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2,466</a:t>
            </a:r>
            <a:r>
              <a:rPr b="1" sz="2000">
                <a:solidFill>
                  <a:srgbClr val="10312B"/>
                </a:solidFill>
                <a:latin typeface="Noto Sans"/>
              </a:rPr>
              <a:t> (15.8%) </a:t>
            </a:r>
            <a:r>
              <a:rPr sz="2000">
                <a:solidFill>
                  <a:srgbClr val="235B4E"/>
                </a:solidFill>
                <a:latin typeface="Noto Sans"/>
              </a:rPr>
              <a:t>Mediana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00400"/>
            <a:ext cx="45720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Georreferencia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15,590</a:t>
            </a:r>
            <a:r>
              <a:rPr b="1" sz="2000">
                <a:solidFill>
                  <a:srgbClr val="10312B"/>
                </a:solidFill>
                <a:latin typeface="Noto Sans"/>
              </a:rPr>
              <a:t> (99.9%) </a:t>
            </a:r>
            <a:r>
              <a:rPr sz="2000">
                <a:solidFill>
                  <a:srgbClr val="235B4E"/>
                </a:solidFill>
                <a:latin typeface="Noto Sans"/>
              </a:rPr>
              <a:t>Congruente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20</a:t>
            </a:r>
            <a:r>
              <a:rPr b="1" sz="2000">
                <a:solidFill>
                  <a:srgbClr val="10312B"/>
                </a:solidFill>
                <a:latin typeface="Noto Sans"/>
              </a:rPr>
              <a:t> (0.1%) </a:t>
            </a:r>
            <a:r>
              <a:rPr sz="2000">
                <a:solidFill>
                  <a:srgbClr val="235B4E"/>
                </a:solidFill>
                <a:latin typeface="Noto Sans"/>
              </a:rPr>
              <a:t>Incongruente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200400"/>
            <a:ext cx="457200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Tipo de documento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15,610</a:t>
            </a:r>
            <a:r>
              <a:rPr b="1" sz="2000">
                <a:solidFill>
                  <a:srgbClr val="10312B"/>
                </a:solidFill>
                <a:latin typeface="Noto Sans"/>
              </a:rPr>
              <a:t> (100.0%) </a:t>
            </a:r>
            <a:r>
              <a:rPr sz="2000">
                <a:solidFill>
                  <a:srgbClr val="235B4E"/>
                </a:solidFill>
                <a:latin typeface="Noto Sans"/>
              </a:rPr>
              <a:t>Valido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200400"/>
            <a:ext cx="4572000" cy="2286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b="1" sz="2400">
                <a:solidFill>
                  <a:srgbClr val="691C32"/>
                </a:solidFill>
                <a:latin typeface="Noto Sans"/>
              </a:defRPr>
            </a:pPr>
            <a:r>
              <a:t>Género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10,770</a:t>
            </a:r>
            <a:r>
              <a:rPr b="1" sz="2000">
                <a:solidFill>
                  <a:srgbClr val="10312B"/>
                </a:solidFill>
                <a:latin typeface="Noto Sans"/>
              </a:rPr>
              <a:t> (69.0%) </a:t>
            </a:r>
            <a:r>
              <a:rPr sz="2000">
                <a:solidFill>
                  <a:srgbClr val="235B4E"/>
                </a:solidFill>
                <a:latin typeface="Noto Sans"/>
              </a:rPr>
              <a:t>Hombre</a:t>
            </a:r>
          </a:p>
          <a:p>
            <a:r>
              <a:rPr sz="2000">
                <a:solidFill>
                  <a:srgbClr val="235B4E"/>
                </a:solidFill>
                <a:latin typeface="Noto Sans"/>
              </a:rPr>
              <a:t>• </a:t>
            </a:r>
            <a:r>
              <a:rPr b="1" sz="2000">
                <a:solidFill>
                  <a:srgbClr val="10312B"/>
                </a:solidFill>
                <a:latin typeface="Noto Sans"/>
              </a:rPr>
              <a:t>4,840</a:t>
            </a:r>
            <a:r>
              <a:rPr b="1" sz="2000">
                <a:solidFill>
                  <a:srgbClr val="10312B"/>
                </a:solidFill>
                <a:latin typeface="Noto Sans"/>
              </a:rPr>
              <a:t> (31.0%) </a:t>
            </a:r>
            <a:r>
              <a:rPr sz="2000">
                <a:solidFill>
                  <a:srgbClr val="235B4E"/>
                </a:solidFill>
                <a:latin typeface="Noto Sans"/>
              </a:rPr>
              <a:t>Mujer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389120"/>
            <a:ext cx="5943600" cy="25935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2160" y="4297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91C32"/>
                </a:solidFill>
                <a:latin typeface="Noto Sans"/>
              </a:rPr>
              <a:t>Avance por 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por OREF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Primer estado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Meta de actualización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149,156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Personas actualizadas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2,218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1.5%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05840"/>
            <a:ext cx="3017520" cy="1188720"/>
          </a:xfrm>
          <a:prstGeom prst="roundRect">
            <a:avLst/>
          </a:prstGeom>
          <a:noFill/>
          <a:ln w="25400">
            <a:solidFill>
              <a:srgbClr val="D4C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85C4D"/>
                </a:solidFill>
              </a:rPr>
              <a:t>Pendientes de actualizar</a:t>
            </a:r>
          </a:p>
          <a:p>
            <a:pPr algn="ctr"/>
            <a:r>
              <a:rPr sz="3400" b="1">
                <a:solidFill>
                  <a:srgbClr val="621132"/>
                </a:solidFill>
              </a:rPr>
              <a:t>146,938</a:t>
            </a:r>
          </a:p>
          <a:p>
            <a:pPr algn="ctr"/>
            <a:r>
              <a:rPr sz="1600" b="1">
                <a:solidFill>
                  <a:srgbClr val="3A7D6B"/>
                </a:solidFill>
              </a:rPr>
              <a:t>98.5%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365760" y="1005840"/>
            <a:ext cx="3840480" cy="321868"/>
          </a:xfrm>
          <a:prstGeom prst="round2SameRect">
            <a:avLst>
              <a:gd name="adj1" fmla="val 90000"/>
              <a:gd name="adj2" fmla="val 0"/>
            </a:avLst>
          </a:prstGeom>
          <a:solidFill>
            <a:srgbClr val="10312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  <a:latin typeface="Noto Sans"/>
              </a:rPr>
              <a:t>Género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7708"/>
            <a:ext cx="3840480" cy="1141171"/>
          </a:xfrm>
          <a:prstGeom prst="rect">
            <a:avLst/>
          </a:prstGeom>
          <a:solidFill>
            <a:srgbClr val="FFFFFF"/>
          </a:solidFill>
          <a:ln w="12700">
            <a:solidFill>
              <a:srgbClr val="BE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spcAft>
                <a:spcPts val="300"/>
              </a:spcAft>
            </a:pPr>
            <a:r>
              <a:rPr sz="1800">
                <a:solidFill>
                  <a:srgbClr val="BE975B"/>
                </a:solidFill>
                <a:latin typeface="Noto Sans"/>
              </a:rPr>
              <a:t>• </a:t>
            </a:r>
            <a:r>
              <a:rPr b="1" sz="1800">
                <a:solidFill>
                  <a:srgbClr val="691C32"/>
                </a:solidFill>
                <a:latin typeface="Noto Sans"/>
              </a:rPr>
              <a:t>1,515</a:t>
            </a:r>
            <a:r>
              <a:rPr b="1" sz="1800">
                <a:solidFill>
                  <a:srgbClr val="691C32"/>
                </a:solidFill>
                <a:latin typeface="Noto Sans"/>
              </a:rPr>
              <a:t> (68.3%) </a:t>
            </a:r>
            <a:r>
              <a:rPr sz="1800">
                <a:solidFill>
                  <a:srgbClr val="BE975B"/>
                </a:solidFill>
                <a:latin typeface="Noto Sans"/>
              </a:rPr>
              <a:t>Hombre</a:t>
            </a:r>
          </a:p>
          <a:p>
            <a:pPr algn="l">
              <a:spcAft>
                <a:spcPts val="300"/>
              </a:spcAft>
            </a:pPr>
            <a:r>
              <a:rPr sz="1800">
                <a:solidFill>
                  <a:srgbClr val="BE975B"/>
                </a:solidFill>
                <a:latin typeface="Noto Sans"/>
              </a:rPr>
              <a:t>• </a:t>
            </a:r>
            <a:r>
              <a:rPr b="1" sz="1800">
                <a:solidFill>
                  <a:srgbClr val="691C32"/>
                </a:solidFill>
                <a:latin typeface="Noto Sans"/>
              </a:rPr>
              <a:t>703</a:t>
            </a:r>
            <a:r>
              <a:rPr b="1" sz="1800">
                <a:solidFill>
                  <a:srgbClr val="691C32"/>
                </a:solidFill>
                <a:latin typeface="Noto Sans"/>
              </a:rPr>
              <a:t> (31.7%) </a:t>
            </a:r>
            <a:r>
              <a:rPr sz="1800">
                <a:solidFill>
                  <a:srgbClr val="BE975B"/>
                </a:solidFill>
                <a:latin typeface="Noto Sans"/>
              </a:rPr>
              <a:t>Mujer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182880"/>
            <a:ext cx="7772400" cy="1188720"/>
          </a:xfrm>
          <a:prstGeom prst="roundRect">
            <a:avLst/>
          </a:prstGeom>
          <a:solidFill>
            <a:srgbClr val="10312B"/>
          </a:solidFill>
          <a:ln w="6350">
            <a:solidFill>
              <a:srgbClr val="BE9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10070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Arial</vt:lpstr>
      <vt:lpstr>Montserrat SemiBold</vt:lpstr>
      <vt:lpstr>Noto Sans Medium</vt:lpstr>
      <vt:lpstr>Noto Sans</vt:lpstr>
      <vt:lpstr>Noto Sans SemiBold</vt:lpstr>
      <vt:lpstr>Patria</vt:lpstr>
      <vt:lpstr>Calibri</vt:lpstr>
      <vt:lpstr>Tema de Office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Alexis Hernandez Herrera</cp:lastModifiedBy>
  <cp:revision>246</cp:revision>
  <cp:lastPrinted>2026-02-16T23:58:33Z</cp:lastPrinted>
  <dcterms:created xsi:type="dcterms:W3CDTF">2018-12-04T03:27:02Z</dcterms:created>
  <dcterms:modified xsi:type="dcterms:W3CDTF">2026-07-02T15:42:34Z</dcterms:modified>
</cp:coreProperties>
</file>